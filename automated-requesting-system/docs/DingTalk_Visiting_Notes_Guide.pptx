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8" r:id="rId11"/>
    <p:sldId id="269" r:id="rId12"/>
    <p:sldId id="270" r:id="rId13"/>
    <p:sldId id="264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2802" autoAdjust="0"/>
  </p:normalViewPr>
  <p:slideViewPr>
    <p:cSldViewPr snapToGrid="0" snapToObjects="1">
      <p:cViewPr varScale="1">
        <p:scale>
          <a:sx n="78" d="100"/>
          <a:sy n="78" d="100"/>
        </p:scale>
        <p:origin x="9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06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4117E-EE05-82FE-D08C-B4908CE16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0E6BF-8BC0-E6B3-FD3E-3DA02C334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ADF05-E640-F36E-BEC0-651339122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16B9C-2165-D80A-4FB9-1E8B9B4213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24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2C0E-5778-0BB6-840C-2EF2F349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DE591-97AA-B8CA-8D13-F20DF11FE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9F123-C0F7-AF19-2041-F5B4B2784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B1C81-AA93-EFEA-AC65-B5B56366E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820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8D6D1-E29A-85C6-636C-83EC4920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A9FC2-62FE-E7F5-ACD5-51211C0B3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E9C6F-70E1-9D56-869C-DF9941311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38EA9-13FE-1789-956D-3297967BC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36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97798-AE90-3FA2-DA17-11CCC534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33D41-1EF6-4929-89E3-70CC6CFC1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EB3E2-2393-72EE-8218-1FC84B762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A23B6-F63D-A4F4-3CF3-DC6310296C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25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36C23-F2E6-12B4-DE22-90A35D2F5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5AFA4-EC94-6D0E-504C-F6D8C35C3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C2E61-9DDC-4020-C978-E8B158226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9C5BE-C6E0-A896-2AE2-D8F96D36C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55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565C0">
              <a:alpha val="50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1565C0">
              <a:alpha val="50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44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DingTalk Visiting Notes</a:t>
            </a:r>
            <a:endParaRPr lang="en-US" sz="4400" dirty="0"/>
          </a:p>
        </p:txBody>
      </p:sp>
      <p:sp>
        <p:nvSpPr>
          <p:cNvPr id="8" name="Text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on the DingTalk Mobile App</a:t>
            </a:r>
            <a:endParaRPr lang="en-US" sz="1800" dirty="0"/>
          </a:p>
        </p:txBody>
      </p:sp>
      <p:sp>
        <p:nvSpPr>
          <p:cNvPr id="9" name="Text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" y="2926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access, create, and manage Visiting Notes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start to finish — right on your smartphone.</a:t>
            </a:r>
            <a:endParaRPr lang="en-US" sz="1300" dirty="0"/>
          </a:p>
        </p:txBody>
      </p:sp>
      <p:sp>
        <p:nvSpPr>
          <p:cNvPr id="10" name="Text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Guide  •  </a:t>
            </a:r>
            <a:r>
              <a:rPr lang="en-US" sz="110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DingTalk</a:t>
            </a: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Workbench •  Visiting Notes Module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61A46F3-E857-7A28-8153-43F93F774B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177" y="-1726055"/>
            <a:ext cx="2079642" cy="4732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You'll Learn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105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4048" y="1344168"/>
            <a:ext cx="548640" cy="5486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4128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DingTalk &amp; Login</a:t>
            </a:r>
            <a:endParaRPr lang="en-US" sz="1300" dirty="0"/>
          </a:p>
        </p:txBody>
      </p:sp>
      <p:sp>
        <p:nvSpPr>
          <p:cNvPr id="9" name="Text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4128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app and sign into your account</a:t>
            </a:r>
            <a:endParaRPr lang="en-US" sz="1000" dirty="0"/>
          </a:p>
        </p:txBody>
      </p:sp>
      <p:sp>
        <p:nvSpPr>
          <p:cNvPr id="10" name="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23774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2578608"/>
            <a:ext cx="548640" cy="5486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404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4128" y="2468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Workbench</a:t>
            </a:r>
            <a:endParaRPr lang="en-US" sz="1300" dirty="0"/>
          </a:p>
        </p:txBody>
      </p:sp>
      <p:sp>
        <p:nvSpPr>
          <p:cNvPr id="14" name="Text 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4128" y="2880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Workbench module in the app</a:t>
            </a:r>
            <a:endParaRPr lang="en-US" sz="1000" dirty="0"/>
          </a:p>
        </p:txBody>
      </p:sp>
      <p:sp>
        <p:nvSpPr>
          <p:cNvPr id="15" name="Shape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3611880"/>
            <a:ext cx="4206240" cy="105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4048" y="3813048"/>
            <a:ext cx="548640" cy="5486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4128" y="37033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Visiting Notes</a:t>
            </a:r>
            <a:endParaRPr lang="en-US" sz="1300" dirty="0"/>
          </a:p>
        </p:txBody>
      </p:sp>
      <p:sp>
        <p:nvSpPr>
          <p:cNvPr id="19" name="Text 1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4128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Visiting Notes feature</a:t>
            </a:r>
            <a:endParaRPr lang="en-US" sz="1000" dirty="0"/>
          </a:p>
        </p:txBody>
      </p:sp>
      <p:sp>
        <p:nvSpPr>
          <p:cNvPr id="20" name="Shape 1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54880" y="11430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64608" y="1344168"/>
            <a:ext cx="548640" cy="5486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64608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04688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Existing Notes</a:t>
            </a:r>
            <a:endParaRPr lang="en-US" sz="1300" dirty="0"/>
          </a:p>
        </p:txBody>
      </p:sp>
      <p:sp>
        <p:nvSpPr>
          <p:cNvPr id="24" name="Text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04688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search previous visit records</a:t>
            </a:r>
            <a:endParaRPr lang="en-US" sz="1000" dirty="0"/>
          </a:p>
        </p:txBody>
      </p:sp>
      <p:sp>
        <p:nvSpPr>
          <p:cNvPr id="25" name="Shape 2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54880" y="2377440"/>
            <a:ext cx="4206240" cy="105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64608" y="2578608"/>
            <a:ext cx="548640" cy="5486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6460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04688" y="2468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Visiting Note</a:t>
            </a:r>
            <a:endParaRPr lang="en-US" sz="1300" dirty="0"/>
          </a:p>
        </p:txBody>
      </p:sp>
      <p:sp>
        <p:nvSpPr>
          <p:cNvPr id="29" name="Text 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04688" y="2880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all required fields for a new visit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64608" y="3813048"/>
            <a:ext cx="548640" cy="5486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64608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04688" y="37033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Submit</a:t>
            </a:r>
            <a:endParaRPr lang="en-US" sz="1300" dirty="0"/>
          </a:p>
        </p:txBody>
      </p:sp>
      <p:sp>
        <p:nvSpPr>
          <p:cNvPr id="34" name="Text 3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04688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note and confirm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" y="-274320"/>
            <a:ext cx="1371600" cy="1371600"/>
          </a:xfrm>
          <a:prstGeom prst="ellipse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STEP 1</a:t>
            </a:r>
            <a:endParaRPr lang="en-US" sz="1100" dirty="0"/>
          </a:p>
        </p:txBody>
      </p:sp>
      <p:sp>
        <p:nvSpPr>
          <p:cNvPr id="5" name="Text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DingTalk &amp; Log In</a:t>
            </a:r>
            <a:endParaRPr lang="en-US" sz="2600" dirty="0"/>
          </a:p>
        </p:txBody>
      </p:sp>
      <p:sp>
        <p:nvSpPr>
          <p:cNvPr id="12" name="Shape 7"/>
          <p:cNvSpPr/>
          <p:nvPr/>
        </p:nvSpPr>
        <p:spPr>
          <a:xfrm>
            <a:off x="274320" y="1143000"/>
            <a:ext cx="91440" cy="7315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352201" y="92051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Make sure DingTalk is installed from the App Store or Google Play. Use your company account credentials to log in.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D35061-F2DC-FB35-A6F6-139D9B637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b="5213"/>
          <a:stretch>
            <a:fillRect/>
          </a:stretch>
        </p:blipFill>
        <p:spPr>
          <a:xfrm>
            <a:off x="809401" y="1450885"/>
            <a:ext cx="1918559" cy="345744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711079C-A8DB-2E75-2424-9299E3402BDA}"/>
              </a:ext>
            </a:extLst>
          </p:cNvPr>
          <p:cNvSpPr txBox="1"/>
          <p:nvPr/>
        </p:nvSpPr>
        <p:spPr>
          <a:xfrm rot="8765117">
            <a:off x="1538717" y="1930327"/>
            <a:ext cx="500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6D00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8F1C1D-E4A9-5140-D5D9-D2CFE47809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94593" y="1627480"/>
            <a:ext cx="127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DingTalk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FBDA9A2-F94E-EDE7-45AE-1E953A8062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b="5057"/>
          <a:stretch>
            <a:fillRect/>
          </a:stretch>
        </p:blipFill>
        <p:spPr>
          <a:xfrm>
            <a:off x="6585782" y="1450885"/>
            <a:ext cx="1996019" cy="3418903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 rot="13516909">
            <a:off x="6807865" y="1836355"/>
            <a:ext cx="32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D00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69806C-0E45-F194-4344-BDC096DA9E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029423" y="2064955"/>
            <a:ext cx="1918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Login Dashboard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2C2373E-7041-9FDC-7661-493D3BFFD0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rcRect l="465" t="5322" r="-465" b="7015"/>
          <a:stretch>
            <a:fillRect/>
          </a:stretch>
        </p:blipFill>
        <p:spPr>
          <a:xfrm>
            <a:off x="3613726" y="1450884"/>
            <a:ext cx="2165328" cy="341890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4977CFB-F13C-D4B7-EA3F-8FA5AB9BC982}"/>
              </a:ext>
            </a:extLst>
          </p:cNvPr>
          <p:cNvSpPr txBox="1"/>
          <p:nvPr/>
        </p:nvSpPr>
        <p:spPr>
          <a:xfrm rot="18970388">
            <a:off x="4895781" y="3876963"/>
            <a:ext cx="500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6D00"/>
                </a:solidFill>
              </a:rPr>
              <a:t>→</a:t>
            </a:r>
            <a:endParaRPr 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6F2A9F-AB44-D575-9B58-4B7651B96353}"/>
              </a:ext>
            </a:extLst>
          </p:cNvPr>
          <p:cNvSpPr txBox="1"/>
          <p:nvPr/>
        </p:nvSpPr>
        <p:spPr>
          <a:xfrm>
            <a:off x="3613726" y="4293614"/>
            <a:ext cx="2233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Location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Navigate to Workplace</a:t>
            </a:r>
            <a:endParaRPr lang="en-US" sz="2600" dirty="0"/>
          </a:p>
        </p:txBody>
      </p:sp>
      <p:sp>
        <p:nvSpPr>
          <p:cNvPr id="5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1234440"/>
            <a:ext cx="3840480" cy="105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EE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14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7" name="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5840" y="1344168"/>
            <a:ext cx="502920" cy="5029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5920" y="1325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"Workplace"</a:t>
            </a:r>
            <a:endParaRPr lang="en-US" sz="1300" dirty="0"/>
          </a:p>
        </p:txBody>
      </p:sp>
      <p:sp>
        <p:nvSpPr>
          <p:cNvPr id="10" name="Text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5920" y="17373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DingTalk Home, tap the Workplace tab at the bottom navigation bar.</a:t>
            </a:r>
            <a:endParaRPr lang="en-US" sz="1000" dirty="0"/>
          </a:p>
        </p:txBody>
      </p:sp>
      <p:sp>
        <p:nvSpPr>
          <p:cNvPr id="11" name="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2423160"/>
            <a:ext cx="3840480" cy="1051560"/>
          </a:xfrm>
          <a:prstGeom prst="rect">
            <a:avLst/>
          </a:prstGeom>
          <a:solidFill>
            <a:srgbClr val="FFF8E1"/>
          </a:solidFill>
          <a:ln w="12700">
            <a:solidFill>
              <a:srgbClr val="EEEE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14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005840" y="2532888"/>
            <a:ext cx="502920" cy="5029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584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5920" y="2514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Report Module</a:t>
            </a:r>
            <a:endParaRPr lang="en-US" sz="1300" dirty="0"/>
          </a:p>
        </p:txBody>
      </p:sp>
      <p:sp>
        <p:nvSpPr>
          <p:cNvPr id="16" name="Text 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5920" y="29260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the Workplace apps. Tap the ”Report” module.</a:t>
            </a:r>
            <a:endParaRPr lang="en-US" sz="1000" dirty="0"/>
          </a:p>
        </p:txBody>
      </p:sp>
      <p:sp>
        <p:nvSpPr>
          <p:cNvPr id="17" name="Shape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3611880"/>
            <a:ext cx="384048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EEEE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148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19" name="Shape 1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5840" y="3721608"/>
            <a:ext cx="502920" cy="5029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5920" y="3703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Module</a:t>
            </a:r>
            <a:endParaRPr lang="en-US" sz="1300" dirty="0"/>
          </a:p>
        </p:txBody>
      </p:sp>
      <p:sp>
        <p:nvSpPr>
          <p:cNvPr id="22" name="Text 2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5920" y="4114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Report icon to open the multi-purpose reports for organization.</a:t>
            </a:r>
            <a:endParaRPr lang="en-US" sz="1000" dirty="0"/>
          </a:p>
        </p:txBody>
      </p:sp>
      <p:sp>
        <p:nvSpPr>
          <p:cNvPr id="25" name="Shape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28805" y="4430373"/>
            <a:ext cx="256032" cy="25603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67698" y="23865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Here!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F33B0AA-A6D5-3769-40CF-64A51136B8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b="4822"/>
          <a:stretch>
            <a:fillRect/>
          </a:stretch>
        </p:blipFill>
        <p:spPr>
          <a:xfrm>
            <a:off x="4709160" y="1179576"/>
            <a:ext cx="2264178" cy="3538728"/>
          </a:xfrm>
          <a:prstGeom prst="rect">
            <a:avLst/>
          </a:prstGeom>
        </p:spPr>
      </p:pic>
      <p:sp>
        <p:nvSpPr>
          <p:cNvPr id="29" name="Shape 2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36698" y="4526490"/>
            <a:ext cx="1587062" cy="6379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65D2CE75-EFC9-A504-506F-459C1B39E4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67698" y="4329001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Workplace Tab</a:t>
            </a:r>
            <a:endParaRPr lang="en-US" sz="1300" dirty="0"/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0A5E197F-BF53-D7FD-6F15-8729BCEEC7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03596" y="2539851"/>
            <a:ext cx="425209" cy="6379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1E1C9D70-50BB-82AD-3532-4A0FEEE29F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23760" y="2450592"/>
            <a:ext cx="256032" cy="25603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 the Visiting Notes Feature</a:t>
            </a:r>
            <a:endParaRPr lang="en-US" sz="2600" dirty="0"/>
          </a:p>
        </p:txBody>
      </p:sp>
      <p:sp>
        <p:nvSpPr>
          <p:cNvPr id="6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14600" y="4501580"/>
            <a:ext cx="1303020" cy="372171"/>
          </a:xfrm>
          <a:prstGeom prst="rect">
            <a:avLst/>
          </a:prstGeom>
          <a:solidFill>
            <a:srgbClr val="FFF176">
              <a:alpha val="70000"/>
            </a:srgbClr>
          </a:solidFill>
          <a:ln w="254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83180" y="4506153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D00"/>
                </a:solidFill>
              </a:rPr>
              <a:t>◄ Tap “Write“ Tab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880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73E8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92240" y="1234440"/>
            <a:ext cx="2468880" cy="340887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92240" y="1161288"/>
            <a:ext cx="2468879" cy="32734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83680" y="1231706"/>
            <a:ext cx="2377440" cy="254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You'll See</a:t>
            </a:r>
            <a:endParaRPr lang="en-US" sz="1300" dirty="0"/>
          </a:p>
        </p:txBody>
      </p:sp>
      <p:sp>
        <p:nvSpPr>
          <p:cNvPr id="14" name="Text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58200" y="182422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5" name="Text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8368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Reports feature</a:t>
            </a:r>
            <a:endParaRPr lang="en-US" sz="1100" dirty="0"/>
          </a:p>
        </p:txBody>
      </p:sp>
      <p:sp>
        <p:nvSpPr>
          <p:cNvPr id="16" name="Text 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03920" y="239572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7" name="Text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83680" y="2441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bar/View, Write, Rules &amp; Template</a:t>
            </a:r>
            <a:endParaRPr lang="en-US" sz="1100" dirty="0"/>
          </a:p>
        </p:txBody>
      </p:sp>
      <p:sp>
        <p:nvSpPr>
          <p:cNvPr id="18" name="Text 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49639" y="3141647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➕</a:t>
            </a:r>
            <a:endParaRPr lang="en-US" sz="1800" dirty="0"/>
          </a:p>
        </p:txBody>
      </p:sp>
      <p:sp>
        <p:nvSpPr>
          <p:cNvPr id="19" name="Text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83680" y="30998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– choose Visiting Notes as a report</a:t>
            </a:r>
            <a:endParaRPr lang="en-US" sz="1100" dirty="0"/>
          </a:p>
        </p:txBody>
      </p:sp>
      <p:sp>
        <p:nvSpPr>
          <p:cNvPr id="20" name="Text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03920" y="374105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21" name="Text 1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83680" y="37581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– for Submitted reports &amp; comments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5E61056-76FB-BD86-8CC8-B83660219B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b="5244"/>
          <a:stretch>
            <a:fillRect/>
          </a:stretch>
        </p:blipFill>
        <p:spPr>
          <a:xfrm>
            <a:off x="305375" y="1143000"/>
            <a:ext cx="1980625" cy="3639312"/>
          </a:xfrm>
          <a:prstGeom prst="rect">
            <a:avLst/>
          </a:prstGeom>
        </p:spPr>
      </p:pic>
      <p:sp>
        <p:nvSpPr>
          <p:cNvPr id="26" name="Shape 5">
            <a:extLst>
              <a:ext uri="{FF2B5EF4-FFF2-40B4-BE49-F238E27FC236}">
                <a16:creationId xmlns:a16="http://schemas.microsoft.com/office/drawing/2014/main" id="{BA9CA8C1-ED79-0AAC-8B33-4942D01F5F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1286" y="4643314"/>
            <a:ext cx="1191873" cy="45719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29C98B1-C0DA-FD0F-1BF8-AB6953FE88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b="5046"/>
          <a:stretch>
            <a:fillRect/>
          </a:stretch>
        </p:blipFill>
        <p:spPr>
          <a:xfrm>
            <a:off x="3931920" y="1151709"/>
            <a:ext cx="2057400" cy="37220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Visiting Notes/Report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022428" y="1143000"/>
            <a:ext cx="2847252" cy="3840480"/>
          </a:xfrm>
          <a:prstGeom prst="rect">
            <a:avLst/>
          </a:prstGeom>
          <a:solidFill>
            <a:srgbClr val="FAFCFF"/>
          </a:solidFill>
          <a:ln w="12700">
            <a:solidFill>
              <a:srgbClr val="E0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0896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Information Inside a Visiting Note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17520" y="1965960"/>
            <a:ext cx="5760720" cy="384048"/>
          </a:xfrm>
          <a:prstGeom prst="rect">
            <a:avLst/>
          </a:prstGeom>
          <a:solidFill>
            <a:srgbClr val="EEF4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127248" y="1993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66360" y="19933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company or contact visited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17520" y="2404872"/>
            <a:ext cx="5760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127248" y="24323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66360" y="24323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visit took place (Online, Phone, Online, Other)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017520" y="2843784"/>
            <a:ext cx="5760720" cy="384048"/>
          </a:xfrm>
          <a:prstGeom prst="rect">
            <a:avLst/>
          </a:prstGeom>
          <a:solidFill>
            <a:srgbClr val="EEF4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127248" y="28712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66360" y="28712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demo, follow-up, negotiation, etc.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017520" y="3282696"/>
            <a:ext cx="5760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27248" y="33101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66360" y="33101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outcome of the visit.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017520" y="3694176"/>
            <a:ext cx="5760720" cy="384048"/>
          </a:xfrm>
          <a:prstGeom prst="rect">
            <a:avLst/>
          </a:prstGeom>
          <a:solidFill>
            <a:srgbClr val="EEF4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127248" y="3749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66360" y="37490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discussion points and summary.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017520" y="4160520"/>
            <a:ext cx="5760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127248" y="41879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166360" y="41879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documentation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AD57F13-74A7-9748-25F9-F651E6E130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b="5220"/>
          <a:stretch>
            <a:fillRect/>
          </a:stretch>
        </p:blipFill>
        <p:spPr>
          <a:xfrm>
            <a:off x="365760" y="1143000"/>
            <a:ext cx="2286000" cy="3840480"/>
          </a:xfrm>
          <a:prstGeom prst="rect">
            <a:avLst/>
          </a:prstGeom>
        </p:spPr>
      </p:pic>
      <p:sp>
        <p:nvSpPr>
          <p:cNvPr id="32" name="Shape 17">
            <a:extLst>
              <a:ext uri="{FF2B5EF4-FFF2-40B4-BE49-F238E27FC236}">
                <a16:creationId xmlns:a16="http://schemas.microsoft.com/office/drawing/2014/main" id="{CCC7BC7D-017F-1CF3-F0AB-42EBCF7863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02280" y="4544568"/>
            <a:ext cx="5760720" cy="384048"/>
          </a:xfrm>
          <a:prstGeom prst="rect">
            <a:avLst/>
          </a:prstGeom>
          <a:solidFill>
            <a:srgbClr val="EEF4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4823A46A-9EE7-1920-9BAE-F823A311A99E}"/>
              </a:ext>
            </a:extLst>
          </p:cNvPr>
          <p:cNvSpPr/>
          <p:nvPr/>
        </p:nvSpPr>
        <p:spPr>
          <a:xfrm>
            <a:off x="5166360" y="4572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B087C4BB-AC14-5FE1-2AF6-552BB2622D99}"/>
              </a:ext>
            </a:extLst>
          </p:cNvPr>
          <p:cNvSpPr/>
          <p:nvPr/>
        </p:nvSpPr>
        <p:spPr>
          <a:xfrm>
            <a:off x="3108960" y="45720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</a:t>
            </a:r>
            <a:endParaRPr lang="en-US" sz="10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3B51B54B-6AA9-84B4-9179-27B948A3EEC3}"/>
              </a:ext>
            </a:extLst>
          </p:cNvPr>
          <p:cNvSpPr/>
          <p:nvPr/>
        </p:nvSpPr>
        <p:spPr>
          <a:xfrm>
            <a:off x="5166360" y="45857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attachments open for reviews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C7D-896C-C7DA-83AD-FE519E6F9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68C7DC-F987-FEAE-6F68-F7AFCF162C57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6D0585-6195-5207-3E4B-BC517AE1F15E}"/>
              </a:ext>
            </a:extLst>
          </p:cNvPr>
          <p:cNvSpPr/>
          <p:nvPr/>
        </p:nvSpPr>
        <p:spPr>
          <a:xfrm>
            <a:off x="27432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STEP 4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5E4D1B-A6AF-DCA5-44BD-3B20F5782C5A}"/>
              </a:ext>
            </a:extLst>
          </p:cNvPr>
          <p:cNvSpPr/>
          <p:nvPr/>
        </p:nvSpPr>
        <p:spPr>
          <a:xfrm>
            <a:off x="2743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Visiting Notes/Report</a:t>
            </a:r>
            <a:endParaRPr lang="en-US" sz="2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1DEBCE1-2829-2403-BE06-9EDE9031398A}"/>
              </a:ext>
            </a:extLst>
          </p:cNvPr>
          <p:cNvSpPr/>
          <p:nvPr/>
        </p:nvSpPr>
        <p:spPr>
          <a:xfrm>
            <a:off x="310896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Information Inside a Visiting Note</a:t>
            </a:r>
            <a:endParaRPr lang="en-US" sz="15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EEA2866-B590-0408-2882-CE6D8FACDB26}"/>
              </a:ext>
            </a:extLst>
          </p:cNvPr>
          <p:cNvSpPr/>
          <p:nvPr/>
        </p:nvSpPr>
        <p:spPr>
          <a:xfrm>
            <a:off x="3017520" y="1965960"/>
            <a:ext cx="5760720" cy="384048"/>
          </a:xfrm>
          <a:prstGeom prst="rect">
            <a:avLst/>
          </a:prstGeom>
          <a:solidFill>
            <a:srgbClr val="EEF4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C5641A7-1BDA-F0A1-7A7E-DEE00C298F66}"/>
              </a:ext>
            </a:extLst>
          </p:cNvPr>
          <p:cNvSpPr/>
          <p:nvPr/>
        </p:nvSpPr>
        <p:spPr>
          <a:xfrm>
            <a:off x="3127248" y="1993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People</a:t>
            </a:r>
            <a:endParaRPr lang="en-US" sz="1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7B08BB3-4223-689E-00A0-D3C74DDD5C2B}"/>
              </a:ext>
            </a:extLst>
          </p:cNvPr>
          <p:cNvSpPr/>
          <p:nvPr/>
        </p:nvSpPr>
        <p:spPr>
          <a:xfrm>
            <a:off x="5166360" y="19933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if need to specify the receiver</a:t>
            </a:r>
            <a:endParaRPr lang="en-US" sz="10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F29E5DF-83AC-D1C1-FE0F-49BE47B0C865}"/>
              </a:ext>
            </a:extLst>
          </p:cNvPr>
          <p:cNvSpPr/>
          <p:nvPr/>
        </p:nvSpPr>
        <p:spPr>
          <a:xfrm>
            <a:off x="3017520" y="2404872"/>
            <a:ext cx="5760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4359FB5-428A-5721-9983-027CD70D75F1}"/>
              </a:ext>
            </a:extLst>
          </p:cNvPr>
          <p:cNvSpPr/>
          <p:nvPr/>
        </p:nvSpPr>
        <p:spPr>
          <a:xfrm>
            <a:off x="3127248" y="24323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group</a:t>
            </a:r>
            <a:endParaRPr lang="en-US" sz="10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E64DEB9-1E3D-E4E2-FC04-7BA7AC1BD719}"/>
              </a:ext>
            </a:extLst>
          </p:cNvPr>
          <p:cNvSpPr/>
          <p:nvPr/>
        </p:nvSpPr>
        <p:spPr>
          <a:xfrm>
            <a:off x="5166360" y="24323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option to share to everyone inside of the organizations group</a:t>
            </a:r>
            <a:endParaRPr lang="en-US" sz="10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07283BF-AF6F-0448-775F-6434BEBBCE9F}"/>
              </a:ext>
            </a:extLst>
          </p:cNvPr>
          <p:cNvSpPr/>
          <p:nvPr/>
        </p:nvSpPr>
        <p:spPr>
          <a:xfrm>
            <a:off x="3017520" y="2843784"/>
            <a:ext cx="5760720" cy="384048"/>
          </a:xfrm>
          <a:prstGeom prst="rect">
            <a:avLst/>
          </a:prstGeom>
          <a:solidFill>
            <a:srgbClr val="EEF4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D97E716-DFCE-547D-8676-63D1D4ADC1F5}"/>
              </a:ext>
            </a:extLst>
          </p:cNvPr>
          <p:cNvSpPr/>
          <p:nvPr/>
        </p:nvSpPr>
        <p:spPr>
          <a:xfrm>
            <a:off x="3127248" y="28712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Transmission </a:t>
            </a:r>
            <a:endParaRPr lang="en-US" sz="10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01044F7-5B6A-93A9-B336-E8CA17E6CD4D}"/>
              </a:ext>
            </a:extLst>
          </p:cNvPr>
          <p:cNvSpPr/>
          <p:nvPr/>
        </p:nvSpPr>
        <p:spPr>
          <a:xfrm>
            <a:off x="5166360" y="28712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1F925A4-2EB7-E36F-A46F-4143A7D069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99"/>
          <a:stretch>
            <a:fillRect/>
          </a:stretch>
        </p:blipFill>
        <p:spPr>
          <a:xfrm>
            <a:off x="326004" y="1212105"/>
            <a:ext cx="2322603" cy="3702269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AFD281F9-6128-C936-3450-433B6CF35B53}"/>
              </a:ext>
            </a:extLst>
          </p:cNvPr>
          <p:cNvSpPr/>
          <p:nvPr/>
        </p:nvSpPr>
        <p:spPr>
          <a:xfrm>
            <a:off x="5166360" y="28895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logging of visit/check-in stamps.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34593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a New Visiting Note</a:t>
            </a:r>
            <a:endParaRPr lang="en-US" sz="2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01632F1-1374-E63A-FD08-4C1946C65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85" y="1206587"/>
            <a:ext cx="1681335" cy="38297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D3B7EE4-3850-02D8-F4D8-75AC5161A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786" y="1206586"/>
            <a:ext cx="1681663" cy="38297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02C143-A3FE-A8E7-3467-8A2A295C1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8896" y="1206587"/>
            <a:ext cx="1681335" cy="3829708"/>
          </a:xfrm>
          <a:prstGeom prst="rect">
            <a:avLst/>
          </a:prstGeom>
        </p:spPr>
      </p:pic>
      <p:sp>
        <p:nvSpPr>
          <p:cNvPr id="26" name="Text 4"/>
          <p:cNvSpPr/>
          <p:nvPr/>
        </p:nvSpPr>
        <p:spPr>
          <a:xfrm rot="14750656">
            <a:off x="6695349" y="33041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D00"/>
                </a:solidFill>
              </a:rPr>
              <a:t>→</a:t>
            </a:r>
            <a:endParaRPr lang="en-US" sz="2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2C7FB5-4B17-A745-E8B6-38DC7D4CBEBC}"/>
              </a:ext>
            </a:extLst>
          </p:cNvPr>
          <p:cNvSpPr txBox="1"/>
          <p:nvPr/>
        </p:nvSpPr>
        <p:spPr>
          <a:xfrm>
            <a:off x="6695411" y="3805930"/>
            <a:ext cx="1184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to Add Manually</a:t>
            </a: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E74A2840-DACD-97D8-3A62-9A426A68AC88}"/>
              </a:ext>
            </a:extLst>
          </p:cNvPr>
          <p:cNvSpPr/>
          <p:nvPr/>
        </p:nvSpPr>
        <p:spPr>
          <a:xfrm rot="19323425">
            <a:off x="43891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D00"/>
                </a:solidFill>
              </a:rPr>
              <a:t>→</a:t>
            </a:r>
            <a:endParaRPr lang="en-US" sz="2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A38BB-1FCF-1B88-D0CA-690BFF36FF1B}"/>
              </a:ext>
            </a:extLst>
          </p:cNvPr>
          <p:cNvSpPr txBox="1"/>
          <p:nvPr/>
        </p:nvSpPr>
        <p:spPr>
          <a:xfrm>
            <a:off x="3796710" y="1786431"/>
            <a:ext cx="1184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“Add” button</a:t>
            </a:r>
          </a:p>
        </p:txBody>
      </p:sp>
      <p:sp>
        <p:nvSpPr>
          <p:cNvPr id="30" name="Text 3"/>
          <p:cNvSpPr/>
          <p:nvPr/>
        </p:nvSpPr>
        <p:spPr>
          <a:xfrm rot="19215470">
            <a:off x="1552388" y="187975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D00"/>
                </a:solidFill>
              </a:rPr>
              <a:t>→</a:t>
            </a:r>
            <a:endParaRPr lang="en-US" sz="2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632290-0D56-A277-05B0-AF048F1CFC51}"/>
              </a:ext>
            </a:extLst>
          </p:cNvPr>
          <p:cNvSpPr txBox="1"/>
          <p:nvPr/>
        </p:nvSpPr>
        <p:spPr>
          <a:xfrm>
            <a:off x="910598" y="2329785"/>
            <a:ext cx="1184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Click the Contact Icon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ECF5A-0532-55A1-4A82-2C9E8BA42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D394A5-7E37-1C35-6A92-867FFA8E04C3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7DFE59-EFB9-8DB4-B063-A34F09C52F4D}"/>
              </a:ext>
            </a:extLst>
          </p:cNvPr>
          <p:cNvSpPr/>
          <p:nvPr/>
        </p:nvSpPr>
        <p:spPr>
          <a:xfrm>
            <a:off x="27432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STEP 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E7FC2A-F681-F36A-3101-1A939A40F16C}"/>
              </a:ext>
            </a:extLst>
          </p:cNvPr>
          <p:cNvSpPr/>
          <p:nvPr/>
        </p:nvSpPr>
        <p:spPr>
          <a:xfrm>
            <a:off x="2743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a New Visiting Note</a:t>
            </a:r>
            <a:endParaRPr lang="en-US" sz="2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2CA174-26E3-CCCD-9D4A-BD9C2D716C69}"/>
              </a:ext>
            </a:extLst>
          </p:cNvPr>
          <p:cNvSpPr txBox="1"/>
          <p:nvPr/>
        </p:nvSpPr>
        <p:spPr>
          <a:xfrm>
            <a:off x="3796710" y="1786431"/>
            <a:ext cx="1184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“Add” button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3B315D-6322-7006-5881-D0820BEF9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30" y="1206587"/>
            <a:ext cx="1681663" cy="38304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6A6B34-25C1-B077-D1AE-51F11699F92D}"/>
              </a:ext>
            </a:extLst>
          </p:cNvPr>
          <p:cNvSpPr txBox="1"/>
          <p:nvPr/>
        </p:nvSpPr>
        <p:spPr>
          <a:xfrm>
            <a:off x="1102835" y="3531691"/>
            <a:ext cx="1108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Fill the Information needed for adding Customer/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D1A12DD-0D8B-C531-1D8A-7C819268B32B}"/>
              </a:ext>
            </a:extLst>
          </p:cNvPr>
          <p:cNvSpPr/>
          <p:nvPr/>
        </p:nvSpPr>
        <p:spPr>
          <a:xfrm rot="15897756">
            <a:off x="1207910" y="30553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D00"/>
                </a:solidFill>
              </a:rPr>
              <a:t>→</a:t>
            </a:r>
            <a:endParaRPr lang="en-US" sz="2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E1223B-6E7D-B8EA-8B8A-1F92F2DFC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677" y="1206587"/>
            <a:ext cx="1681663" cy="38304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B59AA8-6466-B001-E045-B00DA1C907C9}"/>
              </a:ext>
            </a:extLst>
          </p:cNvPr>
          <p:cNvSpPr txBox="1"/>
          <p:nvPr/>
        </p:nvSpPr>
        <p:spPr>
          <a:xfrm>
            <a:off x="3796710" y="3334301"/>
            <a:ext cx="11848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section at the bottom part is just optional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6BE8DFDA-94D8-AA4C-EA39-0023185F11DA}"/>
              </a:ext>
            </a:extLst>
          </p:cNvPr>
          <p:cNvSpPr/>
          <p:nvPr/>
        </p:nvSpPr>
        <p:spPr>
          <a:xfrm rot="15897756">
            <a:off x="4106879" y="29275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D00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21">
            <a:extLst>
              <a:ext uri="{FF2B5EF4-FFF2-40B4-BE49-F238E27FC236}">
                <a16:creationId xmlns:a16="http://schemas.microsoft.com/office/drawing/2014/main" id="{632CCD15-4F65-E4FE-0B60-CFD60613378E}"/>
              </a:ext>
            </a:extLst>
          </p:cNvPr>
          <p:cNvSpPr/>
          <p:nvPr/>
        </p:nvSpPr>
        <p:spPr>
          <a:xfrm>
            <a:off x="5171340" y="1431141"/>
            <a:ext cx="1587062" cy="6379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22">
            <a:extLst>
              <a:ext uri="{FF2B5EF4-FFF2-40B4-BE49-F238E27FC236}">
                <a16:creationId xmlns:a16="http://schemas.microsoft.com/office/drawing/2014/main" id="{16E3D854-714C-BE02-6E7F-3266CA3A5FFC}"/>
              </a:ext>
            </a:extLst>
          </p:cNvPr>
          <p:cNvSpPr/>
          <p:nvPr/>
        </p:nvSpPr>
        <p:spPr>
          <a:xfrm>
            <a:off x="6758402" y="1335024"/>
            <a:ext cx="256032" cy="25603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D0BAD-4447-3BAE-7C7C-BD44FF4875AA}"/>
              </a:ext>
            </a:extLst>
          </p:cNvPr>
          <p:cNvSpPr txBox="1"/>
          <p:nvPr/>
        </p:nvSpPr>
        <p:spPr>
          <a:xfrm>
            <a:off x="7014434" y="1335024"/>
            <a:ext cx="1853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“Save” once </a:t>
            </a:r>
          </a:p>
          <a:p>
            <a:r>
              <a:rPr lang="en-US" dirty="0"/>
              <a:t>done.</a:t>
            </a:r>
          </a:p>
        </p:txBody>
      </p:sp>
    </p:spTree>
    <p:extLst>
      <p:ext uri="{BB962C8B-B14F-4D97-AF65-F5344CB8AC3E}">
        <p14:creationId xmlns:p14="http://schemas.microsoft.com/office/powerpoint/2010/main" val="2768566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2E68E-1D3C-5170-2142-E27FCEDD8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7717B4-8C0F-EC08-87A2-ABD85B1F1B1A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B20F1E-784D-B01F-334B-48E21B63D795}"/>
              </a:ext>
            </a:extLst>
          </p:cNvPr>
          <p:cNvSpPr/>
          <p:nvPr/>
        </p:nvSpPr>
        <p:spPr>
          <a:xfrm>
            <a:off x="27432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STEP 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76D778-8B5F-D108-AC58-F145A406EEE5}"/>
              </a:ext>
            </a:extLst>
          </p:cNvPr>
          <p:cNvSpPr/>
          <p:nvPr/>
        </p:nvSpPr>
        <p:spPr>
          <a:xfrm>
            <a:off x="2743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a New Visiting Note</a:t>
            </a:r>
            <a:endParaRPr lang="en-US" sz="2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06F405-9D22-CB74-C212-69206B778C1A}"/>
              </a:ext>
            </a:extLst>
          </p:cNvPr>
          <p:cNvSpPr txBox="1"/>
          <p:nvPr/>
        </p:nvSpPr>
        <p:spPr>
          <a:xfrm>
            <a:off x="3796710" y="1786431"/>
            <a:ext cx="1184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“Add” button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92265-0256-E33C-3584-3D5B6F0279C8}"/>
              </a:ext>
            </a:extLst>
          </p:cNvPr>
          <p:cNvSpPr txBox="1"/>
          <p:nvPr/>
        </p:nvSpPr>
        <p:spPr>
          <a:xfrm>
            <a:off x="1102835" y="3531691"/>
            <a:ext cx="1108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Fill the Information needed for adding Customer/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FF5A51-FAC9-EC40-0612-092C2207A32E}"/>
              </a:ext>
            </a:extLst>
          </p:cNvPr>
          <p:cNvSpPr txBox="1"/>
          <p:nvPr/>
        </p:nvSpPr>
        <p:spPr>
          <a:xfrm>
            <a:off x="3796710" y="3334301"/>
            <a:ext cx="11848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section at the bottom part is just optional</a:t>
            </a:r>
          </a:p>
        </p:txBody>
      </p:sp>
      <p:sp>
        <p:nvSpPr>
          <p:cNvPr id="14" name="Shape 22">
            <a:extLst>
              <a:ext uri="{FF2B5EF4-FFF2-40B4-BE49-F238E27FC236}">
                <a16:creationId xmlns:a16="http://schemas.microsoft.com/office/drawing/2014/main" id="{C2723ECC-4614-06C1-077A-975C3C49D809}"/>
              </a:ext>
            </a:extLst>
          </p:cNvPr>
          <p:cNvSpPr/>
          <p:nvPr/>
        </p:nvSpPr>
        <p:spPr>
          <a:xfrm>
            <a:off x="5976182" y="2181635"/>
            <a:ext cx="256032" cy="25603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59E849-B4CF-EF1A-51CE-FFD14A23C72E}"/>
              </a:ext>
            </a:extLst>
          </p:cNvPr>
          <p:cNvSpPr txBox="1"/>
          <p:nvPr/>
        </p:nvSpPr>
        <p:spPr>
          <a:xfrm>
            <a:off x="6322314" y="1847986"/>
            <a:ext cx="28921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Reason, Result &amp; Note.</a:t>
            </a:r>
          </a:p>
          <a:p>
            <a:r>
              <a:rPr lang="en-US" dirty="0"/>
              <a:t>State the Summary/detailed </a:t>
            </a:r>
          </a:p>
          <a:p>
            <a:r>
              <a:rPr lang="en-US" dirty="0"/>
              <a:t>needed for Visiting Note.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B7A800-22F5-7F96-EA96-9472ADA95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010" y="1154471"/>
            <a:ext cx="1731209" cy="39433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42342B-4B0B-EC13-1D95-0EC94CE3BCB7}"/>
              </a:ext>
            </a:extLst>
          </p:cNvPr>
          <p:cNvSpPr txBox="1"/>
          <p:nvPr/>
        </p:nvSpPr>
        <p:spPr>
          <a:xfrm>
            <a:off x="1269326" y="3745349"/>
            <a:ext cx="11848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the mode of visit/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appointment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3F8ABE54-2FEF-9B89-2C5D-457CF0933D36}"/>
              </a:ext>
            </a:extLst>
          </p:cNvPr>
          <p:cNvSpPr/>
          <p:nvPr/>
        </p:nvSpPr>
        <p:spPr>
          <a:xfrm rot="15897756">
            <a:off x="1582271" y="335349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D00"/>
                </a:solidFill>
              </a:rPr>
              <a:t>→</a:t>
            </a:r>
            <a:endParaRPr lang="en-US" sz="2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BD74CC-E2A3-9795-B02F-67C5923E61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220"/>
          <a:stretch>
            <a:fillRect/>
          </a:stretch>
        </p:blipFill>
        <p:spPr>
          <a:xfrm>
            <a:off x="3282842" y="1154470"/>
            <a:ext cx="2347208" cy="3943309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6E8D17E8-20DE-B9A2-0F43-451260DF0F0D}"/>
              </a:ext>
            </a:extLst>
          </p:cNvPr>
          <p:cNvSpPr/>
          <p:nvPr/>
        </p:nvSpPr>
        <p:spPr>
          <a:xfrm>
            <a:off x="2894398" y="28975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D00"/>
                </a:solidFill>
              </a:rPr>
              <a:t>→</a:t>
            </a:r>
            <a:endParaRPr lang="en-US" sz="2600" dirty="0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39C6A954-0DE2-3258-0352-C170581541C6}"/>
              </a:ext>
            </a:extLst>
          </p:cNvPr>
          <p:cNvSpPr/>
          <p:nvPr/>
        </p:nvSpPr>
        <p:spPr>
          <a:xfrm>
            <a:off x="4389120" y="2303043"/>
            <a:ext cx="1587062" cy="6379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3A0C6AF1-0574-A276-E0B7-DE93AC777294}"/>
              </a:ext>
            </a:extLst>
          </p:cNvPr>
          <p:cNvSpPr/>
          <p:nvPr/>
        </p:nvSpPr>
        <p:spPr>
          <a:xfrm>
            <a:off x="5528783" y="4249903"/>
            <a:ext cx="489711" cy="45719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6EC988CC-F1DA-CD6B-0053-5642CD579150}"/>
              </a:ext>
            </a:extLst>
          </p:cNvPr>
          <p:cNvSpPr/>
          <p:nvPr/>
        </p:nvSpPr>
        <p:spPr>
          <a:xfrm>
            <a:off x="6032306" y="4144746"/>
            <a:ext cx="256032" cy="25603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DB775C-9322-8D45-C0C1-509417355C33}"/>
              </a:ext>
            </a:extLst>
          </p:cNvPr>
          <p:cNvSpPr txBox="1"/>
          <p:nvPr/>
        </p:nvSpPr>
        <p:spPr>
          <a:xfrm>
            <a:off x="6345174" y="3811097"/>
            <a:ext cx="27382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Image &amp; Attachment.</a:t>
            </a:r>
          </a:p>
          <a:p>
            <a:r>
              <a:rPr lang="en-US" dirty="0"/>
              <a:t>Include those files that are </a:t>
            </a:r>
          </a:p>
          <a:p>
            <a:r>
              <a:rPr lang="en-US" dirty="0"/>
              <a:t>connected for the Visiting </a:t>
            </a:r>
          </a:p>
          <a:p>
            <a:r>
              <a:rPr lang="en-US" dirty="0"/>
              <a:t>Report.</a:t>
            </a:r>
          </a:p>
        </p:txBody>
      </p:sp>
    </p:spTree>
    <p:extLst>
      <p:ext uri="{BB962C8B-B14F-4D97-AF65-F5344CB8AC3E}">
        <p14:creationId xmlns:p14="http://schemas.microsoft.com/office/powerpoint/2010/main" val="258454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17578-91C2-BFDD-5334-EAEAED21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081DAC-63FA-7F3C-948D-FE6A1856EF4D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EA433B-E730-13F3-4F06-63B5991A681D}"/>
              </a:ext>
            </a:extLst>
          </p:cNvPr>
          <p:cNvSpPr/>
          <p:nvPr/>
        </p:nvSpPr>
        <p:spPr>
          <a:xfrm>
            <a:off x="27432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STEP 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B69703-3373-8B47-B7D2-880506D11AF2}"/>
              </a:ext>
            </a:extLst>
          </p:cNvPr>
          <p:cNvSpPr/>
          <p:nvPr/>
        </p:nvSpPr>
        <p:spPr>
          <a:xfrm>
            <a:off x="2743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a New Visiting Note</a:t>
            </a:r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BFFB9-FDE6-E856-10A3-6977827E0B3E}"/>
              </a:ext>
            </a:extLst>
          </p:cNvPr>
          <p:cNvSpPr txBox="1"/>
          <p:nvPr/>
        </p:nvSpPr>
        <p:spPr>
          <a:xfrm>
            <a:off x="1102835" y="3531691"/>
            <a:ext cx="1108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Fill the Information needed for adding Customer/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4" name="Shape 22">
            <a:extLst>
              <a:ext uri="{FF2B5EF4-FFF2-40B4-BE49-F238E27FC236}">
                <a16:creationId xmlns:a16="http://schemas.microsoft.com/office/drawing/2014/main" id="{D24B59E7-2D10-D8A1-348E-0DAE13169BBA}"/>
              </a:ext>
            </a:extLst>
          </p:cNvPr>
          <p:cNvSpPr/>
          <p:nvPr/>
        </p:nvSpPr>
        <p:spPr>
          <a:xfrm>
            <a:off x="3171644" y="1816458"/>
            <a:ext cx="256032" cy="25603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44493E-0773-5314-E42E-796555FFBBDD}"/>
              </a:ext>
            </a:extLst>
          </p:cNvPr>
          <p:cNvSpPr txBox="1"/>
          <p:nvPr/>
        </p:nvSpPr>
        <p:spPr>
          <a:xfrm>
            <a:off x="3655118" y="1417320"/>
            <a:ext cx="41328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Send to People:</a:t>
            </a:r>
          </a:p>
          <a:p>
            <a:r>
              <a:rPr lang="en-US" dirty="0"/>
              <a:t>If it need to send only on specific member</a:t>
            </a:r>
          </a:p>
          <a:p>
            <a:r>
              <a:rPr lang="en-US" dirty="0"/>
              <a:t>of organization.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DBB45E-EEE6-84D4-D355-ACDEE7AE4AA8}"/>
              </a:ext>
            </a:extLst>
          </p:cNvPr>
          <p:cNvSpPr txBox="1"/>
          <p:nvPr/>
        </p:nvSpPr>
        <p:spPr>
          <a:xfrm>
            <a:off x="1269326" y="3745349"/>
            <a:ext cx="11848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the mode of visit/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appointment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5D9AAA74-E8A5-1B8D-6FF4-3226AC92C664}"/>
              </a:ext>
            </a:extLst>
          </p:cNvPr>
          <p:cNvSpPr/>
          <p:nvPr/>
        </p:nvSpPr>
        <p:spPr>
          <a:xfrm>
            <a:off x="3171644" y="2603156"/>
            <a:ext cx="256032" cy="25603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108831-9ADE-1B21-9C77-95AAE438A57A}"/>
              </a:ext>
            </a:extLst>
          </p:cNvPr>
          <p:cNvSpPr txBox="1"/>
          <p:nvPr/>
        </p:nvSpPr>
        <p:spPr>
          <a:xfrm>
            <a:off x="3655118" y="2340650"/>
            <a:ext cx="3461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Send to group:</a:t>
            </a:r>
          </a:p>
          <a:p>
            <a:r>
              <a:rPr lang="en-US" dirty="0"/>
              <a:t>Let everyone view the Visit Report.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D168EB-E7AF-CB81-917A-5251B69B1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8" y="1263034"/>
            <a:ext cx="2024328" cy="3726180"/>
          </a:xfrm>
          <a:prstGeom prst="rect">
            <a:avLst/>
          </a:prstGeom>
        </p:spPr>
      </p:pic>
      <p:sp>
        <p:nvSpPr>
          <p:cNvPr id="8" name="Shape 21">
            <a:extLst>
              <a:ext uri="{FF2B5EF4-FFF2-40B4-BE49-F238E27FC236}">
                <a16:creationId xmlns:a16="http://schemas.microsoft.com/office/drawing/2014/main" id="{56611BF1-BD06-7771-9BF8-C5601BDC0CF0}"/>
              </a:ext>
            </a:extLst>
          </p:cNvPr>
          <p:cNvSpPr/>
          <p:nvPr/>
        </p:nvSpPr>
        <p:spPr>
          <a:xfrm>
            <a:off x="1584582" y="1912575"/>
            <a:ext cx="1587062" cy="6379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6A46532-06E7-714C-618C-48941801DF93}"/>
              </a:ext>
            </a:extLst>
          </p:cNvPr>
          <p:cNvSpPr/>
          <p:nvPr/>
        </p:nvSpPr>
        <p:spPr>
          <a:xfrm>
            <a:off x="2454146" y="2685453"/>
            <a:ext cx="717498" cy="45719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21">
            <a:extLst>
              <a:ext uri="{FF2B5EF4-FFF2-40B4-BE49-F238E27FC236}">
                <a16:creationId xmlns:a16="http://schemas.microsoft.com/office/drawing/2014/main" id="{9A14C945-74FC-C160-DB95-43D98F53D8C7}"/>
              </a:ext>
            </a:extLst>
          </p:cNvPr>
          <p:cNvSpPr/>
          <p:nvPr/>
        </p:nvSpPr>
        <p:spPr>
          <a:xfrm>
            <a:off x="2525446" y="4518265"/>
            <a:ext cx="717498" cy="45719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22">
            <a:extLst>
              <a:ext uri="{FF2B5EF4-FFF2-40B4-BE49-F238E27FC236}">
                <a16:creationId xmlns:a16="http://schemas.microsoft.com/office/drawing/2014/main" id="{FE49BA9F-990F-D2F9-5040-77C872693B85}"/>
              </a:ext>
            </a:extLst>
          </p:cNvPr>
          <p:cNvSpPr/>
          <p:nvPr/>
        </p:nvSpPr>
        <p:spPr>
          <a:xfrm>
            <a:off x="3171644" y="4413108"/>
            <a:ext cx="256032" cy="25603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DC8130-EBBC-02FE-1422-09D54FCDB524}"/>
              </a:ext>
            </a:extLst>
          </p:cNvPr>
          <p:cNvSpPr txBox="1"/>
          <p:nvPr/>
        </p:nvSpPr>
        <p:spPr>
          <a:xfrm>
            <a:off x="3655118" y="4089942"/>
            <a:ext cx="271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Once done, Click “Submit”.</a:t>
            </a:r>
          </a:p>
        </p:txBody>
      </p:sp>
    </p:spTree>
    <p:extLst>
      <p:ext uri="{BB962C8B-B14F-4D97-AF65-F5344CB8AC3E}">
        <p14:creationId xmlns:p14="http://schemas.microsoft.com/office/powerpoint/2010/main" val="3192171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E8B14-5919-647A-5B70-A0A40B11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A4365A-6826-531C-1DD5-4E46AA64E21E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ED0236-13E8-49F9-3687-3EFC7EB8ABCB}"/>
              </a:ext>
            </a:extLst>
          </p:cNvPr>
          <p:cNvSpPr/>
          <p:nvPr/>
        </p:nvSpPr>
        <p:spPr>
          <a:xfrm>
            <a:off x="27432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STEP 6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E968E5-D756-01F3-8E72-7263D2184233}"/>
              </a:ext>
            </a:extLst>
          </p:cNvPr>
          <p:cNvSpPr/>
          <p:nvPr/>
        </p:nvSpPr>
        <p:spPr>
          <a:xfrm>
            <a:off x="2743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 &amp; Comment Visiting Note</a:t>
            </a:r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AA329-743D-ADEA-9B35-6EB8A1A06492}"/>
              </a:ext>
            </a:extLst>
          </p:cNvPr>
          <p:cNvSpPr txBox="1"/>
          <p:nvPr/>
        </p:nvSpPr>
        <p:spPr>
          <a:xfrm>
            <a:off x="1102835" y="3531691"/>
            <a:ext cx="1108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Fill the Information needed for adding Customer/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3E5CD7-D3FC-66F9-D296-BB05D716272A}"/>
              </a:ext>
            </a:extLst>
          </p:cNvPr>
          <p:cNvSpPr txBox="1"/>
          <p:nvPr/>
        </p:nvSpPr>
        <p:spPr>
          <a:xfrm>
            <a:off x="1269326" y="3745349"/>
            <a:ext cx="11848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the mode of visit/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appointment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3D9215-B744-B7AD-2327-495CC2F1FA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73" y="1330736"/>
            <a:ext cx="2051267" cy="37431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7D025C-4C85-59FC-E390-DA3C96BBFA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94" y="1302002"/>
            <a:ext cx="2053902" cy="37431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EFFCD7-9893-B622-0A64-9DB7342532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458" y="1279142"/>
            <a:ext cx="2053901" cy="3743166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9123870B-1EF7-6DB5-5CE2-695276F1BD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73002" y="25717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D00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2640633C-851C-850C-D774-151032BF3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98896" y="25717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D00"/>
                </a:solidFill>
              </a:rPr>
              <a:t>→</a:t>
            </a:r>
            <a:endParaRPr lang="en-US" sz="2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AB3A58-5225-21D0-23BB-86BBCD1A31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48359" y="1483902"/>
            <a:ext cx="18133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 to “View”, </a:t>
            </a:r>
          </a:p>
          <a:p>
            <a:r>
              <a:rPr lang="en-US" dirty="0"/>
              <a:t>To see the </a:t>
            </a:r>
          </a:p>
          <a:p>
            <a:r>
              <a:rPr lang="en-US" dirty="0"/>
              <a:t>submitted </a:t>
            </a:r>
          </a:p>
          <a:p>
            <a:r>
              <a:rPr lang="en-US" dirty="0"/>
              <a:t>Reports.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3625D1-A667-B7E2-88DB-322C6AC8C64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48359" y="2902233"/>
            <a:ext cx="17366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Comment,</a:t>
            </a:r>
          </a:p>
          <a:p>
            <a:r>
              <a:rPr lang="en-US" dirty="0"/>
              <a:t>Circle the text to</a:t>
            </a:r>
          </a:p>
          <a:p>
            <a:r>
              <a:rPr lang="en-US" dirty="0"/>
              <a:t>enable </a:t>
            </a:r>
          </a:p>
          <a:p>
            <a:r>
              <a:rPr lang="en-US" dirty="0"/>
              <a:t>Comment.</a:t>
            </a:r>
          </a:p>
        </p:txBody>
      </p:sp>
    </p:spTree>
    <p:extLst>
      <p:ext uri="{BB962C8B-B14F-4D97-AF65-F5344CB8AC3E}">
        <p14:creationId xmlns:p14="http://schemas.microsoft.com/office/powerpoint/2010/main" val="1083271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Pro Tips &amp; Reminders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" y="1248156"/>
            <a:ext cx="2743200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7220" y="12115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57300" y="131445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Photos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490" y="186309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camera icon to attach photos from the visit as proof.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743200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13716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03720" y="13990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location to auto-fill visit address for accuracy.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2743200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1546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51560" y="3182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Reminders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follow-up reminders directly from a visiting note.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743200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31546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977640" y="3182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can see all visit reports under CRM Analytics.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23260" y="1248156"/>
            <a:ext cx="2743200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86150" y="140360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389120" y="13990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86150" y="18470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notes by date, customer, rep, or status easily.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565C0">
              <a:alpha val="50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All Set! 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BDEFB"/>
                </a:solidFill>
              </a:rPr>
              <a:t>Here's a quick recap of the steps to use Visiting Notes on DingTalk Mobile: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3749040" cy="621792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Open DingTalk and log 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715768"/>
            <a:ext cx="3749040" cy="621792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Go to Workplace → Reports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465576"/>
            <a:ext cx="3749040" cy="621792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5387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Tap "Visiting Notes"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965960"/>
            <a:ext cx="3749040" cy="621792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20391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Browse or search existing notes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715768"/>
            <a:ext cx="3749040" cy="621792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27889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Tap Visiting note and fill in all fields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465576"/>
            <a:ext cx="3749040" cy="621792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35387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Save &amp; Submit your note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CAF9"/>
                </a:solidFill>
              </a:rPr>
              <a:t>Questions? Contact your </a:t>
            </a:r>
            <a:r>
              <a:rPr lang="en-US" sz="1100" i="1">
                <a:solidFill>
                  <a:srgbClr val="90CAF9"/>
                </a:solidFill>
              </a:rPr>
              <a:t>IT Dept.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786</Words>
  <Application>Microsoft Office PowerPoint</Application>
  <PresentationFormat>On-screen Show (16:9)</PresentationFormat>
  <Paragraphs>190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Visiting Notes on DingTalk Mobile</dc:title>
  <dc:subject>PptxGenJS Presentation</dc:subject>
  <dc:creator>PptxGenJS</dc:creator>
  <cp:lastModifiedBy>Ichiro Cwuz</cp:lastModifiedBy>
  <cp:revision>17</cp:revision>
  <dcterms:created xsi:type="dcterms:W3CDTF">2026-05-25T08:28:12Z</dcterms:created>
  <dcterms:modified xsi:type="dcterms:W3CDTF">2026-05-26T00:52:44Z</dcterms:modified>
</cp:coreProperties>
</file>